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6459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108960"/>
            <a:ext cx="2468880" cy="246888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FINTECH FEST 2026  ·  SBI HACKATHON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banking helper that doesn't just answer — it does the whole thing for you.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232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4041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turning dormant customers into active, digital-first users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have an account. Almost no one uses it fully.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the size of SBI opens accounts at massive scale — but most customers only ever check a balance or send money on UPI. They never start an FD, a SIP, or buy insurance. Not for lack of interest — the journeys are long, in English, and full of jargon.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999232"/>
            <a:ext cx="658368" cy="658368"/>
          </a:xfrm>
          <a:prstGeom prst="ellipse">
            <a:avLst/>
          </a:prstGeom>
          <a:solidFill>
            <a:srgbClr val="FCEF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5" y="3183575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675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96112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across confusing screens to start one simple deposit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999232"/>
            <a:ext cx="658368" cy="658368"/>
          </a:xfrm>
          <a:prstGeom prst="ellipse">
            <a:avLst/>
          </a:prstGeom>
          <a:solidFill>
            <a:srgbClr val="E5F5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55" y="31835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675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639312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matters — most give up when it isn't their own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2743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2999232"/>
            <a:ext cx="658368" cy="658368"/>
          </a:xfrm>
          <a:prstGeom prst="ellipse">
            <a:avLst/>
          </a:prstGeom>
          <a:solidFill>
            <a:srgbClr val="FCEFD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855" y="3183575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675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382512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earned on idle savings that could be working for them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 does three things — in the customer's own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7752" cy="29718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E5F5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6" y="217078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Spots the next step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something useful from the customer's own activity — like money sitting idle in savings — and brings it up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587752" cy="29718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965960"/>
            <a:ext cx="731520" cy="73152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426" y="217078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it simply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it down in plain, everyday language and shows a clear illustration of what it could mean. Education, not advice.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87752" cy="29718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65960"/>
            <a:ext cx="731520" cy="731520"/>
          </a:xfrm>
          <a:prstGeom prst="ellipse">
            <a:avLst/>
          </a:prstGeom>
          <a:solidFill>
            <a:srgbClr val="FCEF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217078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journey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the whole booking itself — filling forms, handling the confusing parts — and pauses only for consent.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chatbot. A copilot that removes the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9476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65960"/>
            <a:ext cx="566928" cy="566928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852" y="212470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 chatbot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2697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question, then stops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2688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11 taps to the customer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32688" y="3611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in jargon and English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32688" y="4069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still gives up halfway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09160" y="1737360"/>
            <a:ext cx="3794760" cy="297180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65192" y="1965960"/>
            <a:ext cx="566928" cy="566928"/>
          </a:xfrm>
          <a:prstGeom prst="ellipse">
            <a:avLst/>
          </a:prstGeom>
          <a:solidFill>
            <a:srgbClr val="2E3A7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932" y="2124700"/>
            <a:ext cx="249448" cy="249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41848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001768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3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whole journey for you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001768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3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11 taps into one sentence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01768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3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in your language, at your level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01768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3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only for your consent on money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idle savings balance, one sentence,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some money just sitting there — what can I do?”  (spoken in Hindi)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86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4086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checks the real balance and what the customer already holds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443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fixed deposit in plain words and shows a simple, clearly-marked illustration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593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4787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says “haan, karo” — and Saathi walks through the entire booking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15137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pauses at the consent screen for an OTP or fingerprint before money moves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to talk and remove friction — never to decide products or move money on its own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377440" y="1600200"/>
            <a:ext cx="438912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8105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680" y="1600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(Claude)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plans the steps, translates jargon → the customer's language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237744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88036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98448" y="3108960"/>
            <a:ext cx="603504" cy="603504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29" y="3277941"/>
            <a:ext cx="265542" cy="2655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" y="376732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APIs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58952" y="407822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balance &amp; holdings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651760" y="288036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10128" y="3108960"/>
            <a:ext cx="603504" cy="603504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109" y="3277941"/>
            <a:ext cx="265542" cy="2655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70632" y="376732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rules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2770632" y="407822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what's suitable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21808" y="3108960"/>
            <a:ext cx="603504" cy="603504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789" y="3277941"/>
            <a:ext cx="265542" cy="2655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2312" y="376732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executor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2312" y="407822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app screens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675120" y="288036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33488" y="3108960"/>
            <a:ext cx="603504" cy="603504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469" y="3277941"/>
            <a:ext cx="265542" cy="2655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93992" y="376732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&amp; audit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793992" y="407822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gate + full log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40080" y="46817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the customer sees comes from a real system — the model never invents a figure.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28016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BANK'S RISK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guardrails are the product, not the fine print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B23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47672"/>
            <a:ext cx="566928" cy="566928"/>
          </a:xfrm>
          <a:prstGeom prst="ellipse">
            <a:avLst/>
          </a:prstGeom>
          <a:solidFill>
            <a:srgbClr val="2A356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10641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Education, not advice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54480" y="22585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and illustrates. Suitability comes from the bank's own compliant rules — sidesteps the mis-selling risk.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B2350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1947672"/>
            <a:ext cx="566928" cy="566928"/>
          </a:xfrm>
          <a:prstGeom prst="ellipse">
            <a:avLst/>
          </a:prstGeom>
          <a:solidFill>
            <a:srgbClr val="2A356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780" y="21064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consent on money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577840" y="22585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for the friction, a firm stop for anything that moves funds. OTP or biometric, every time.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26440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B2350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3520440"/>
            <a:ext cx="566928" cy="566928"/>
          </a:xfrm>
          <a:prstGeom prst="ellipse">
            <a:avLst/>
          </a:prstGeom>
          <a:solidFill>
            <a:srgbClr val="2A356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3679180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465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real data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554480" y="38313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figures come from live APIs and a deterministic calculator — no guessed numbers.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326440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B2350"/>
          </a:solidFill>
          <a:ln/>
        </p:spPr>
      </p:sp>
      <p:sp>
        <p:nvSpPr>
          <p:cNvPr id="21" name="Shape 16"/>
          <p:cNvSpPr/>
          <p:nvPr/>
        </p:nvSpPr>
        <p:spPr>
          <a:xfrm>
            <a:off x="4892040" y="3520440"/>
            <a:ext cx="566928" cy="566928"/>
          </a:xfrm>
          <a:prstGeom prst="ellipse">
            <a:avLst/>
          </a:prstGeom>
          <a:solidFill>
            <a:srgbClr val="2A356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780" y="3679180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465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logged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577840" y="38313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audit trail of each step, ready for compliance review, and consent-first under the DPDP Act.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pieces, wired for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65376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189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brain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0939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 for planning &amp; reasoning; Haiku 4.5 for fast, low-cost intent routing.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865376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201899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8105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language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20939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Indian-language speech-to-text and text-to-speech (Bhashini / Sarvam style) for real vernacular support.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724912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05226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843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&amp; facts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127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account APIs, the bank's product-suitability rules, and a deterministic calculation module.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724912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898648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30522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843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doing layer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3127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executor over app deep-links &amp; forms, with a consent + audit layer around every action.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758184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0855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&amp; backend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0876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services with mock banking APIs, and a YONO-style mobile front end for the demo.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63440" y="3758184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931920"/>
            <a:ext cx="548640" cy="548640"/>
          </a:xfrm>
          <a:prstGeom prst="ellipse">
            <a:avLst/>
          </a:prstGeom>
          <a:solidFill>
            <a:srgbClr val="ECEE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939" y="40855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3212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 the bank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53212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sit inside the bank's environment so customer data stays where it belongs (DPDP-aligned).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COMMERCIAL POTENTIAL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earn when the bank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94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603504" cy="603504"/>
          </a:xfrm>
          <a:prstGeom prst="ellipse">
            <a:avLst/>
          </a:prstGeom>
          <a:solidFill>
            <a:srgbClr val="FCEF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093" y="2107509"/>
            <a:ext cx="265542" cy="2655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licence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 to run Saathi inside the bank's app — sold B2B to the bank, not to end customers.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794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938528"/>
            <a:ext cx="603504" cy="603504"/>
          </a:xfrm>
          <a:prstGeom prst="ellipse">
            <a:avLst/>
          </a:prstGeom>
          <a:solidFill>
            <a:srgbClr val="FCEF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53" y="2107509"/>
            <a:ext cx="265542" cy="2655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share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23560" y="23317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per dormant customer activated or product journey completed. The bank pays when it works.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7863840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A0E24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60120" y="3703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upside is large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60120" y="40233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SIPs, FDs and insurance are recurring and sticky — one activation earns for years, not one transaction. And once the guided-journey layer is built for one bank, the same engine repeats across every product and every regional language. The first deployment is the hard part; everything after is repeatable.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371600"/>
            <a:ext cx="3108960" cy="310896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friction. Speaks your language. Keeps you in control.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232C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8254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670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&amp; literacy-aware — the real adoption blocker, solved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264408"/>
            <a:ext cx="457200" cy="457200"/>
          </a:xfrm>
          <a:prstGeom prst="ellipse">
            <a:avLst/>
          </a:prstGeom>
          <a:solidFill>
            <a:srgbClr val="232C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9242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2369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— it finishes the journey, not just the conversation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232C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9593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039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 in — education-first, consent-gated, fully audited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286000" y="45902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account holder to active, digital-first customer.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Agentic Adoption Copilot</dc:title>
  <dc:subject>PptxGenJS Presentation</dc:subject>
  <dc:creator>Team Saathi</dc:creator>
  <cp:lastModifiedBy>Team Saathi</cp:lastModifiedBy>
  <cp:revision>1</cp:revision>
  <dcterms:created xsi:type="dcterms:W3CDTF">2026-07-04T16:26:32Z</dcterms:created>
  <dcterms:modified xsi:type="dcterms:W3CDTF">2026-07-04T16:26:32Z</dcterms:modified>
</cp:coreProperties>
</file>